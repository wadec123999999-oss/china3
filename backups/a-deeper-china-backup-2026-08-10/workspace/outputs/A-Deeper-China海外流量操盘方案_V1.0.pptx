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23570c4c864456" /><Relationship Type="http://schemas.openxmlformats.org/officeDocument/2006/relationships/extended-properties" Target="/docProps/app.xml" Id="R3e07f359aa7749f3" /><Relationship Type="http://schemas.openxmlformats.org/officeDocument/2006/relationships/officeDocument" Target="/ppt/presentation.xml" Id="Re5edf8a2ac7e4a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9eb809af024ae3"/>
  </p:sldMasterIdLst>
  <p:notesMasterIdLst>
    <p:notesMasterId xmlns:r="http://schemas.openxmlformats.org/officeDocument/2006/relationships" r:id="Rf3e3438cf24647a4"/>
  </p:notesMasterIdLst>
  <p:sldIdLst>
    <p:sldId xmlns:r="http://schemas.openxmlformats.org/officeDocument/2006/relationships" id="256" r:id="R0a9d262f160d4edf"/>
    <p:sldId xmlns:r="http://schemas.openxmlformats.org/officeDocument/2006/relationships" id="257" r:id="R7b46c3a7c4604016"/>
    <p:sldId xmlns:r="http://schemas.openxmlformats.org/officeDocument/2006/relationships" id="258" r:id="Rece36d1929524ad8"/>
    <p:sldId xmlns:r="http://schemas.openxmlformats.org/officeDocument/2006/relationships" id="259" r:id="R40786cf33dc84d88"/>
    <p:sldId xmlns:r="http://schemas.openxmlformats.org/officeDocument/2006/relationships" id="260" r:id="Rc05f558688304845"/>
    <p:sldId xmlns:r="http://schemas.openxmlformats.org/officeDocument/2006/relationships" id="261" r:id="Rd7e5b0f13a5d4f69"/>
    <p:sldId xmlns:r="http://schemas.openxmlformats.org/officeDocument/2006/relationships" id="262" r:id="Rc1c9ee4a1eeb4a63"/>
    <p:sldId xmlns:r="http://schemas.openxmlformats.org/officeDocument/2006/relationships" id="263" r:id="R83493ec3c9984dbb"/>
    <p:sldId xmlns:r="http://schemas.openxmlformats.org/officeDocument/2006/relationships" id="264" r:id="Rfcafad85bf3b4f83"/>
    <p:sldId xmlns:r="http://schemas.openxmlformats.org/officeDocument/2006/relationships" id="265" r:id="Raf32d0c25a7a4f9e"/>
    <p:sldId xmlns:r="http://schemas.openxmlformats.org/officeDocument/2006/relationships" id="266" r:id="R2d679039a43f4870"/>
    <p:sldId xmlns:r="http://schemas.openxmlformats.org/officeDocument/2006/relationships" id="267" r:id="R929c61db3da442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178959c2504f54" /><Relationship Type="http://schemas.openxmlformats.org/officeDocument/2006/relationships/slideMaster" Target="/ppt/slideMasters/slideMaster1.xml" Id="Ra19eb809af024ae3" /><Relationship Type="http://schemas.openxmlformats.org/officeDocument/2006/relationships/notesMaster" Target="/ppt/notesMasters/notesMaster1.xml" Id="Rf3e3438cf24647a4" /><Relationship Type="http://schemas.openxmlformats.org/officeDocument/2006/relationships/presProps" Target="/ppt/presProps.xml" Id="R3bc886f0fa9b40f8" /><Relationship Type="http://schemas.openxmlformats.org/officeDocument/2006/relationships/tableStyles" Target="/ppt/tableStyles.xml" Id="R7d3b716b4bd442f1" /><Relationship Type="http://schemas.openxmlformats.org/officeDocument/2006/relationships/slide" Target="/ppt/slides/slide1.xml" Id="R0a9d262f160d4edf" /><Relationship Type="http://schemas.openxmlformats.org/officeDocument/2006/relationships/slide" Target="/ppt/slides/slide2.xml" Id="R7b46c3a7c4604016" /><Relationship Type="http://schemas.openxmlformats.org/officeDocument/2006/relationships/slide" Target="/ppt/slides/slide3.xml" Id="Rece36d1929524ad8" /><Relationship Type="http://schemas.openxmlformats.org/officeDocument/2006/relationships/slide" Target="/ppt/slides/slide4.xml" Id="R40786cf33dc84d88" /><Relationship Type="http://schemas.openxmlformats.org/officeDocument/2006/relationships/slide" Target="/ppt/slides/slide5.xml" Id="Rc05f558688304845" /><Relationship Type="http://schemas.openxmlformats.org/officeDocument/2006/relationships/slide" Target="/ppt/slides/slide6.xml" Id="Rd7e5b0f13a5d4f69" /><Relationship Type="http://schemas.openxmlformats.org/officeDocument/2006/relationships/slide" Target="/ppt/slides/slide7.xml" Id="Rc1c9ee4a1eeb4a63" /><Relationship Type="http://schemas.openxmlformats.org/officeDocument/2006/relationships/slide" Target="/ppt/slides/slide8.xml" Id="R83493ec3c9984dbb" /><Relationship Type="http://schemas.openxmlformats.org/officeDocument/2006/relationships/slide" Target="/ppt/slides/slide9.xml" Id="Rfcafad85bf3b4f83" /><Relationship Type="http://schemas.openxmlformats.org/officeDocument/2006/relationships/slide" Target="/ppt/slides/slide10.xml" Id="Raf32d0c25a7a4f9e" /><Relationship Type="http://schemas.openxmlformats.org/officeDocument/2006/relationships/slide" Target="/ppt/slides/slide11.xml" Id="R2d679039a43f4870" /><Relationship Type="http://schemas.openxmlformats.org/officeDocument/2006/relationships/slide" Target="/ppt/slides/slide12.xml" Id="R929c61db3da442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b3a218a0ff4c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cbd80c32ee4a30" /><Relationship Type="http://schemas.openxmlformats.org/officeDocument/2006/relationships/notesMaster" Target="/ppt/notesMasters/notesMaster1.xml" Id="R9ad2b834acb447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69313b184047ea" /><Relationship Type="http://schemas.openxmlformats.org/officeDocument/2006/relationships/notesMaster" Target="/ppt/notesMasters/notesMaster1.xml" Id="Rf690ca55db4d4b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2a8f208a1244c7" /><Relationship Type="http://schemas.openxmlformats.org/officeDocument/2006/relationships/notesMaster" Target="/ppt/notesMasters/notesMaster1.xml" Id="R20c3af29ca1840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dbc35ceac8424e" /><Relationship Type="http://schemas.openxmlformats.org/officeDocument/2006/relationships/notesMaster" Target="/ppt/notesMasters/notesMaster1.xml" Id="R982d62a4fad848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f25b224d3a45b9" /><Relationship Type="http://schemas.openxmlformats.org/officeDocument/2006/relationships/notesMaster" Target="/ppt/notesMasters/notesMaster1.xml" Id="Rc2f1dc47ba1847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27f84bc98b429d" /><Relationship Type="http://schemas.openxmlformats.org/officeDocument/2006/relationships/notesMaster" Target="/ppt/notesMasters/notesMaster1.xml" Id="R0ef23e657a3d45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63f827f3be4f80" /><Relationship Type="http://schemas.openxmlformats.org/officeDocument/2006/relationships/notesMaster" Target="/ppt/notesMasters/notesMaster1.xml" Id="R8c75aa5ebcaa4a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0f49d3cab74dc8" /><Relationship Type="http://schemas.openxmlformats.org/officeDocument/2006/relationships/notesMaster" Target="/ppt/notesMasters/notesMaster1.xml" Id="R9151c0f5249e4d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c2536f1f6745a0" /><Relationship Type="http://schemas.openxmlformats.org/officeDocument/2006/relationships/notesMaster" Target="/ppt/notesMasters/notesMaster1.xml" Id="R88cd89fa68e242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067cf934ed4df6" /><Relationship Type="http://schemas.openxmlformats.org/officeDocument/2006/relationships/notesMaster" Target="/ppt/notesMasters/notesMaster1.xml" Id="R28880fd7ef8444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fe245f7667435d" /><Relationship Type="http://schemas.openxmlformats.org/officeDocument/2006/relationships/notesMaster" Target="/ppt/notesMasters/notesMaster1.xml" Id="R4f4a6604cd3c4b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0b94d7e8ed4c4a" /><Relationship Type="http://schemas.openxmlformats.org/officeDocument/2006/relationships/notesMaster" Target="/ppt/notesMasters/notesMaster1.xml" Id="R72e9b7005ab241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项目设计系统：design-system/a-deeper-china/MASTER.md（暖纸张、黑色、朱砂红、纪录片式影像）</a:t>
            </a:r>
          </a:p>
          <a:p xmlns:a="http://schemas.openxmlformats.org/drawingml/2006/main">
            <a:r>
              <a:t>- 图片：output/playwright/site-preview-v0.3-desktop.png（项目现有独立站预览图，作为内部视觉素材）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产品与价格依据：outputs/A-Deeper-China真正流量操盘方案_V2.0.md</a:t>
            </a:r>
          </a:p>
          <a:p xmlns:a="http://schemas.openxmlformats.org/drawingml/2006/main">
            <a:r>
              <a:t>- 商业层级依据：design-system/a-deeper-china/MASTER.md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关键词样本：outputs/traffic-research-v1/autocomplete-keywords-20260808.csv</a:t>
            </a:r>
          </a:p>
          <a:p xmlns:a="http://schemas.openxmlformats.org/drawingml/2006/main">
            <a:r>
              <a:t>- 关键词归类与判断：outputs/A-Deeper-China海外流量专业调查_V1.0.md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城市组合与批次策略：outputs/A-Deeper-China真正流量操盘方案_V2.0.md</a:t>
            </a:r>
          </a:p>
          <a:p xmlns:a="http://schemas.openxmlformats.org/drawingml/2006/main">
            <a:r>
              <a:t>- 项目城市数据库资产总览：outputs/A-Deeper-China城市数据库资产总览_V1.0.md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流量链路与产品路径：outputs/A-Deeper-China真正流量操盘方案_V2.0.md</a:t>
            </a:r>
          </a:p>
          <a:p xmlns:a="http://schemas.openxmlformats.org/drawingml/2006/main">
            <a:r>
              <a:t>- 承接页原则：outputs/A-Deeper-China独立站首发页面规格_V1.0.md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渠道投入比例：outputs/A-Deeper-China真正流量操盘方案_V2.0.md</a:t>
            </a:r>
          </a:p>
          <a:p xmlns:a="http://schemas.openxmlformats.org/drawingml/2006/main">
            <a:r>
              <a:t>- 渠道职责与阶段判断：outputs/A-Deeper-China海外流量专业调查_V1.0.md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创作者联盟机制与目标：outputs/A-Deeper-China真正流量操盘方案_V2.0.md</a:t>
            </a:r>
          </a:p>
          <a:p xmlns:a="http://schemas.openxmlformats.org/drawingml/2006/main">
            <a:r>
              <a:t>- 图片：output/playwright/site-preview-v0.3-chongqing.png（项目现有独立站预览图，作为内部视觉素材）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平台分工与内容示例：outputs/traffic-research-v1/A-Deeper-China_30天海外流量执行表_V1.0.md</a:t>
            </a:r>
          </a:p>
          <a:p xmlns:a="http://schemas.openxmlformats.org/drawingml/2006/main">
            <a:r>
              <a:t>- 社区问答结构：outputs/A-Deeper-China海外流量小白落地方案_V1.0.md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关键词分层：outputs/A-Deeper-China海外流量专业调查_V1.0.md</a:t>
            </a:r>
          </a:p>
          <a:p xmlns:a="http://schemas.openxmlformats.org/drawingml/2006/main">
            <a:r>
              <a:t>- 预算上限：outputs/traffic-research-v1/A-Deeper-China_30天海外流量执行表_V1.0.md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- 30天目标与周计划：outputs/traffic-research-v1/A-Deeper-China_30天海外流量执行表_V1.0.md</a:t>
            </a:r>
          </a:p>
          <a:p xmlns:a="http://schemas.openxmlformats.org/drawingml/2006/main">
            <a:r>
              <a:t>- 第一周资产清单：outputs/traffic-research-v1/A-Deeper-China_第一周获客启动包_V1.0.md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追踪字段与复盘规则：outputs/A-Deeper-China真正流量操盘方案_V2.0.md</a:t>
            </a:r>
          </a:p>
          <a:p xmlns:a="http://schemas.openxmlformats.org/drawingml/2006/main">
            <a:r>
              <a:t>- 30天复盘表：outputs/traffic-research-v1/A-Deeper-China_30天海外流量执行表_V1.0.md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第一周动作与优先级：outputs/traffic-research-v1/A-Deeper-China_第一周获客启动包_V1.0.md</a:t>
            </a:r>
          </a:p>
          <a:p xmlns:a="http://schemas.openxmlformats.org/drawingml/2006/main">
            <a:r>
              <a:t>- 商业验证原则：outputs/A-Deeper-China真正流量操盘方案_V2.0.md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39fe85e7d248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83c6c82c434398" /><Relationship Type="http://schemas.openxmlformats.org/officeDocument/2006/relationships/slideLayout" Target="/ppt/slideLayouts/slideLayout1.xml" Id="Rd9f5ef46bc334b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f5ef46bc334b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0e9962b834615" /><Relationship Type="http://schemas.openxmlformats.org/officeDocument/2006/relationships/image" Target="/ppt/media/image.png" Id="R60e79a4f60c44b91" /><Relationship Type="http://schemas.openxmlformats.org/officeDocument/2006/relationships/notesSlide" Target="/ppt/notesSlides/notesSlide1.xml" Id="R5f48a951fc854f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440b8ef3e40fd" /><Relationship Type="http://schemas.openxmlformats.org/officeDocument/2006/relationships/notesSlide" Target="/ppt/notesSlides/notesSlide2.xml" Id="R24a783edba1240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52d60ae9341ec" /><Relationship Type="http://schemas.openxmlformats.org/officeDocument/2006/relationships/notesSlide" Target="/ppt/notesSlides/notesSlide3.xml" Id="Rc466b73e1c914a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6254dba204392" /><Relationship Type="http://schemas.openxmlformats.org/officeDocument/2006/relationships/notesSlide" Target="/ppt/notesSlides/notesSlide4.xml" Id="Rb27ad759804048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9d283f56e471e" /><Relationship Type="http://schemas.openxmlformats.org/officeDocument/2006/relationships/notesSlide" Target="/ppt/notesSlides/notesSlide5.xml" Id="R59ec9d09a87b42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36e1f476846d9" /><Relationship Type="http://schemas.openxmlformats.org/officeDocument/2006/relationships/notesSlide" Target="/ppt/notesSlides/notesSlide6.xml" Id="R913411eff35545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29495123c4cd4" /><Relationship Type="http://schemas.openxmlformats.org/officeDocument/2006/relationships/image" Target="/ppt/media/image2.png" Id="R3170edc523a94146" /><Relationship Type="http://schemas.openxmlformats.org/officeDocument/2006/relationships/notesSlide" Target="/ppt/notesSlides/notesSlide7.xml" Id="Rc279378f818642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66b6e0dd844e6" /><Relationship Type="http://schemas.openxmlformats.org/officeDocument/2006/relationships/notesSlide" Target="/ppt/notesSlides/notesSlide8.xml" Id="Reeedead807834f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e759bab4340ce" /><Relationship Type="http://schemas.openxmlformats.org/officeDocument/2006/relationships/notesSlide" Target="/ppt/notesSlides/notesSlide9.xml" Id="R2b6d2b22738142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94184c4904fa8" /><Relationship Type="http://schemas.openxmlformats.org/officeDocument/2006/relationships/notesSlide" Target="/ppt/notesSlides/notesSlide10.xml" Id="Rde25f676bc3d41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70b91b0334837" /><Relationship Type="http://schemas.openxmlformats.org/officeDocument/2006/relationships/notesSlide" Target="/ppt/notesSlides/notesSlide11.xml" Id="Rc7531268da4c4c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b08c044cc41c0" /><Relationship Type="http://schemas.openxmlformats.org/officeDocument/2006/relationships/notesSlide" Target="/ppt/notesSlides/notesSlide12.xml" Id="Raea7edae93ee4b4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79a4f60c44b91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CEA123-6615-44E4-A8CA-DE1BBA72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6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C1490-0B78-4B78-A726-31E9B574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528FFF-6E0A-4611-B997-FC5FC2B9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E0B06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0B067"/>
                </a:solidFill>
                <a:latin typeface="Arial"/>
                <a:ea typeface="Arial"/>
                <a:cs typeface="Arial"/>
              </a:rPr>
              <a:t>A DEEPER CHINA  /  OVERSEAS GROWTH 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38F88-603D-47F7-86D2-BC2A8375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1915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525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3525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流量不是发布内容，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525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3525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是让正确的人在正确的问题上遇见你。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D90DF-786F-40A0-A6A3-75E82494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 i="0">
                <a:solidFill>
                  <a:srgbClr val="E7E1D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7E1D6"/>
                </a:solidFill>
                <a:latin typeface="Arial"/>
                <a:ea typeface="Arial"/>
                <a:cs typeface="Arial"/>
              </a:rPr>
              <a:t>海外获客方案 · 30天验证版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D97A44-5425-420A-85A9-90DEB464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E7E1D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E7E1D6"/>
                </a:solidFill>
                <a:latin typeface="Arial"/>
                <a:ea typeface="Arial"/>
                <a:cs typeface="Arial"/>
              </a:rPr>
              <a:t>深度数据库 + 付费路书 + 人工校验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CAD4DA-F62F-4226-8DAB-64956DA6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B4DB6C-25B2-44CE-A067-DB8501A6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552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 i="1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650" b="0" i="1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先卖一个判断，再把判断变成可复制的获客系统。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26329D-0EDD-45D5-931C-3A3F74F4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293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DED7C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ED7CD"/>
                </a:solidFill>
                <a:latin typeface="Arial"/>
                <a:ea typeface="Arial"/>
                <a:cs typeface="Arial"/>
              </a:rPr>
              <a:t>2026.08</a:t>
            </a:r>
          </a:p>
        </p:txBody>
      </p:sp>
    </p:spTree>
    <p:extLst>
      <p:ext uri="{BB962C8B-B14F-4D97-AF65-F5344CB8AC3E}">
        <p14:creationId xmlns:p14="http://schemas.microsoft.com/office/powerpoint/2010/main" val="3986585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B380E3-B969-43CC-88B1-33D2E094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01  /  先说结论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A581D-B46E-4BE3-A25F-CE843BEB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先卖一个判断，再建立一套流量系统。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F1BB5-2050-4037-80D2-7A6E9FD6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游客并不缺“更多中国信息”。他们缺的是：有人敢告诉他删掉什么。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338C4-1EAE-40DB-ADC0-4CA03968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A63D2D"/>
                </a:solidFill>
                <a:latin typeface="Georgia"/>
                <a:ea typeface="Georgia"/>
                <a:cs typeface="Georgia"/>
              </a:defRPr>
            </a:pPr>
            <a:r>
              <a:rPr sz="5400" b="1" i="0">
                <a:solidFill>
                  <a:srgbClr val="A63D2D"/>
                </a:solidFill>
                <a:latin typeface="Georgia"/>
                <a:ea typeface="Georgia"/>
                <a:cs typeface="Georgia"/>
              </a:rPr>
              <a:t>US$39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6CEDD-F23F-4D07-8F35-D0A56E19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China Trip Reality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01631-7B9F-4859-A326-3A1BC9E9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3个路线风险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Keep / Cut / Reorder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48小时交付 + 1次补充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1B52D-8C0C-4042-8484-42E5E23D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76500"/>
            <a:ext cx="9525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09840D-8373-4FE3-994B-3AFA1D8C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71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你真正卖的不是数据库。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2135B-AD3F-4496-AE58-97B9FD48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242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数据库是后台资产；客户买的是“这条路线能不能舒服地走完”的确定性。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93E120-4E91-446E-9514-11BF8DCC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21005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2E5DD5-A205-4BC7-86D9-3C6E281A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4577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外部流量 → Route Signal → US$39 → US$99+路书 → 案例与转介绍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6EE59-236A-4534-A03D-5E2328C6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A3E6C4-DAA2-4D37-B063-C73FF551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A DEEPER CHINA / GROWTH OPERATING PLAN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1E5779-3117-486C-A8BA-BE363D8D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40212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7E1D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8AC191-FAAE-415B-97E5-FB359BAB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02  /  需求已经存在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77C36-E55E-4E3B-A83E-4670A3A7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问题已经存在，游客只是把它问错了。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25E678-F7B5-4BF8-8222-7ADA8FEB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Google / YouTube 自动补全采样，不是搜索量报告，但足够告诉我们：人们反复寻找的不是“景点”，而是取舍。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8640D-09BF-40B6-BF29-CAF3A9F1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A63D2D"/>
                </a:solidFill>
                <a:latin typeface="Georgia"/>
                <a:ea typeface="Georgia"/>
                <a:cs typeface="Georgia"/>
              </a:defRPr>
            </a:pPr>
            <a:r>
              <a:rPr sz="5400" b="1" i="0">
                <a:solidFill>
                  <a:srgbClr val="A63D2D"/>
                </a:solidFill>
                <a:latin typeface="Georgia"/>
                <a:ea typeface="Georgia"/>
                <a:cs typeface="Georgia"/>
              </a:rPr>
              <a:t>238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933F7-B611-48F6-B17C-B14D6915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个不重复英文建议词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DB726-5F00-486B-A790-8C3EBB22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7650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540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111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23185-BCEA-45AA-89AF-B17C8929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33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1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个与天数 / 路线 / 城市组合有关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0FB7D4-C115-4188-9487-298EA170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4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3CAA5B-2669-4437-8B56-014943AB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A77C31-5043-41C5-8CC1-5FA2089B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我的路线是不是太满？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6EB4E2-BA79-4B81-959C-6F05B935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90ADB0-E51D-40C5-97B9-F9B3B94D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北京、上海、成都、重庆能放在两周内吗？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5A152-E7E8-4CC0-B54C-A78BF3EA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00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9F8621-C00E-42DA-9A38-E7968E48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816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高铁时间为什么不等于旅行时间？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0A9C9A-E4BD-48D5-8AE6-3739003A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B704EE-145D-4D91-924C-AE781325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007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第一次来中国，哪个城市应该删掉？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E86D4A-C820-4304-9B12-B0813AAF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43150"/>
            <a:ext cx="30099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505CC4-BA0E-41DC-837B-AA9E8211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24150"/>
            <a:ext cx="238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把一个问题</a:t>
            </a:r>
          </a:p>
          <a:p xmlns:a="http://schemas.openxmlformats.org/drawingml/2006/main">
            <a:pPr algn="l">
              <a:defRPr sz="225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变成一次付费判断。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89B7E1-F494-4827-A4B4-7F41780C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14800"/>
            <a:ext cx="2247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DDD4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DD4C9"/>
                </a:solidFill>
                <a:latin typeface="Arial"/>
                <a:ea typeface="Arial"/>
                <a:cs typeface="Arial"/>
              </a:rPr>
              <a:t>这就是 Route Signal 的入口：公开回答先建立可信度，付费审查再交付确定性。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1F129A-4F5A-4A9A-A363-DC15C94D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259A34-9CC9-4A1E-8740-099C96D4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A DEEPER CHINA / GROWTH OPERATING PLAN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7AA8B0-0919-4B89-89B3-9B8E8F43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456017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A1A0B3-5B64-4C5E-B333-DB274FDD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03  /  入口策略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AEA9C-0D18-4B98-93B7-BAC95722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把13个目的地，压缩成4个流量入口。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FF6FA-4559-44C3-8D2C-8CF59F16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数据库可以很深；广告、合作链接和落地页必须很窄。每个入口只回答一类路线问题。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4E41A-56C3-48FB-B719-54EAE1BB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1388E5-0738-4F81-9BC5-877120AB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3B17A-9F71-4D41-94C0-39909A2B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384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上海 — 杭州 — 苏州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F6C0B-A83E-4D30-8D09-B3AD8E72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146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27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第一次来中国 / 建筑 / 慢节奏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A5C6A-4162-4149-A6F3-65227918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BD466-1D6E-4F33-AE6A-725DFF53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E18182-0E60-4988-A9C0-294BD526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385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北京 — 长城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B1458-20E0-4998-9921-F210194A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147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27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首访刚需 / 历史 / 真实体力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C75C93-8654-47E4-A8A2-A14529FD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E2DC0F-FB48-44DC-9CFF-D2C8967A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6475A5-0BDC-4C45-B063-B5C84F0A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386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成都 — 重庆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A0BA16-1566-4758-A395-B50F4ABC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148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27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城市体验 / 转场取舍 / 社交流量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5D470B-E78F-4137-9F75-97922A30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3D38E1-EA77-42EB-923F-72C97BBB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93A2ED-F4C3-4742-B850-3C074F0F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387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广州 — 深圳 + 桂林 — 阳朔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DBCCA9-3F6F-4D00-86D8-B5CA91B7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9149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27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华南组合 / 科技游 / 山水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1D3A77-8E52-4D3C-9D7C-32471927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00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38FF31-042B-4528-B7DB-7B165F0A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53125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第二批：景德镇、泉州—德化     实验型：武当山、景迈茶山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192AF1-D77D-4508-96FD-EC65A582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8F714F-EEFD-4828-9E9D-4112D7EF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A DEEPER CHINA / GROWTH OPERATING PLAN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BE9995-B545-407D-B4FE-A73D221F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496958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7E1D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CC22D5-F364-4DF1-9C4D-D3DFF419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04  /  承接系统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2D30F-1E4A-47EF-BCF8-B44AC13E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每个渠道，都必须落到同一个承接动作。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74526-A589-425C-8221-A6EAE04B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不要把流量送进一个泛泛的首页；把它送进一个能立刻回答问题的页面。</a:t>
            </a:r>
          </a:p>
        </p:txBody>
      </p:sp>
      <p:sp>
        <p:nvSpPr>
          <p:cNvPr id="4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7F1CB6E5-6D8C-4C1C-85C4-C51C3BB3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276600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A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53070894-813E-4838-8880-7B57A1C3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76600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A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7BAD2149-63A2-4A13-A93A-55F6DB6F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76600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63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65F6F687-1273-4AD6-BDCB-F8EE8034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76600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A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A8756FFF-5898-4B42-974A-5BA20986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76600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A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low-node-0">
            <a:extLst xmlns:a="http://schemas.openxmlformats.org/drawingml/2006/main">
              <a:ext uri="{FF2B5EF4-FFF2-40B4-BE49-F238E27FC236}">
                <a16:creationId xmlns:a16="http://schemas.microsoft.com/office/drawing/2014/main" id="{91FE1B8C-FEFD-4164-98C0-A95A01C7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4478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9525">
            <a:solidFill>
              <a:srgbClr val="BDB4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2C51D-5C3C-413C-BCA0-2825B8F8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外部受众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05050-8981-41AD-B3B9-05CD5963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050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创作者 / 社区 / 搜索</a:t>
            </a:r>
          </a:p>
        </p:txBody>
      </p:sp>
      <p:sp>
        <p:nvSpPr>
          <p:cNvPr id="12" name="flow-node-1">
            <a:extLst xmlns:a="http://schemas.openxmlformats.org/drawingml/2006/main">
              <a:ext uri="{FF2B5EF4-FFF2-40B4-BE49-F238E27FC236}">
                <a16:creationId xmlns:a16="http://schemas.microsoft.com/office/drawing/2014/main" id="{7841D0A0-9C88-48E7-AC40-4C3C0100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81300"/>
            <a:ext cx="14478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9525">
            <a:solidFill>
              <a:srgbClr val="BDB4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EE37F-466B-4783-9C56-8FCD06FC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问题型页面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0160D0-92AD-4CA1-87D1-FC59D51D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861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050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一页只解决一问</a:t>
            </a:r>
          </a:p>
        </p:txBody>
      </p:sp>
      <p:sp>
        <p:nvSpPr>
          <p:cNvPr id="15" name="flow-node-2">
            <a:extLst xmlns:a="http://schemas.openxmlformats.org/drawingml/2006/main">
              <a:ext uri="{FF2B5EF4-FFF2-40B4-BE49-F238E27FC236}">
                <a16:creationId xmlns:a16="http://schemas.microsoft.com/office/drawing/2014/main" id="{F5C0E9B1-25ED-4734-B700-FB8F1EF4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81300"/>
            <a:ext cx="14478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9525">
            <a:solidFill>
              <a:srgbClr val="BDB4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100929-2E87-4FEE-BCFB-B6712C1D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480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5057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免费 Route Signal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5F45A1-19A9-48D4-AC19-E23C163A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861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050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提交已有路线</a:t>
            </a:r>
          </a:p>
        </p:txBody>
      </p:sp>
      <p:sp>
        <p:nvSpPr>
          <p:cNvPr id="18" name="flow-node-3">
            <a:extLst xmlns:a="http://schemas.openxmlformats.org/drawingml/2006/main">
              <a:ext uri="{FF2B5EF4-FFF2-40B4-BE49-F238E27FC236}">
                <a16:creationId xmlns:a16="http://schemas.microsoft.com/office/drawing/2014/main" id="{3A8DFE26-1594-4485-8820-01398A43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14478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2D"/>
          </a:solidFill>
          <a:ln xmlns:a="http://schemas.openxmlformats.org/drawingml/2006/main" w="9525">
            <a:solidFill>
              <a:srgbClr val="A63D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64731E-4EEF-4A00-9043-B227A09B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480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US$39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D38057-9642-405F-A7CA-ABD057AF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861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050" b="0" i="0">
                <a:solidFill>
                  <a:srgbClr val="E6DDD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E6DDD2"/>
                </a:solidFill>
                <a:latin typeface="Arial"/>
                <a:ea typeface="Arial"/>
                <a:cs typeface="Arial"/>
              </a:rPr>
              <a:t>Reality Check</a:t>
            </a:r>
          </a:p>
        </p:txBody>
      </p:sp>
      <p:sp>
        <p:nvSpPr>
          <p:cNvPr id="21" name="flow-node-4">
            <a:extLst xmlns:a="http://schemas.openxmlformats.org/drawingml/2006/main">
              <a:ext uri="{FF2B5EF4-FFF2-40B4-BE49-F238E27FC236}">
                <a16:creationId xmlns:a16="http://schemas.microsoft.com/office/drawing/2014/main" id="{E2C5AB6D-9DCD-4D59-AEB7-48824468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81300"/>
            <a:ext cx="14478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2"/>
          </a:solidFill>
          <a:ln xmlns:a="http://schemas.openxmlformats.org/drawingml/2006/main" w="9525">
            <a:solidFill>
              <a:srgbClr val="15151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5382F2-E5EB-4804-A0B7-06D2E654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US$99+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AB64C3-3BB7-432B-94F0-4CDA2D47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861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050" b="0" i="0">
                <a:solidFill>
                  <a:srgbClr val="E6DDD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E6DDD2"/>
                </a:solidFill>
                <a:latin typeface="Arial"/>
                <a:ea typeface="Arial"/>
                <a:cs typeface="Arial"/>
              </a:rPr>
              <a:t>Deep City Roadbook</a:t>
            </a:r>
          </a:p>
        </p:txBody>
      </p:sp>
      <p:sp>
        <p:nvSpPr>
          <p:cNvPr id="24" name="flow-node-5">
            <a:extLst xmlns:a="http://schemas.openxmlformats.org/drawingml/2006/main">
              <a:ext uri="{FF2B5EF4-FFF2-40B4-BE49-F238E27FC236}">
                <a16:creationId xmlns:a16="http://schemas.microsoft.com/office/drawing/2014/main" id="{000B873A-5FCD-4C02-8C98-E21CB849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81300"/>
            <a:ext cx="14478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9525">
            <a:solidFill>
              <a:srgbClr val="BDB4A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472EC7-B64D-44A9-A9AE-C8A5A308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480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298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案例与转介绍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593B26-04B5-4173-92F8-3864D8AE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4861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050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再次分发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DEC6B2-7636-4515-A9C7-79D96896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039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79A3D0-8999-40FF-82E3-8A40D28B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一个客户只需要走完一条清晰的路径：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2791DE-8F76-46FE-98C5-4343356E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91100"/>
            <a:ext cx="638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 i="1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800" b="0" i="1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“我已经做了路线，但不确定它是否真的可行。”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1217BA-AC06-4C35-BFD2-EFC40515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1FA676-2B44-4FAC-9D14-A037C61A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A DEEPER CHINA / GROWTH OPERATING PLAN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3C8A6F-1898-4645-A30C-C0491C39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589036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371248-DC71-4800-BD7A-44D248BE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05  /  渠道优先级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34079-42AD-428A-B44E-6B800438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五条流量管道，先用时间换验证。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527607-728E-4277-BA99-B2D642DE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这里的“投入”是时间和精力比例，不等于一开始就花广告费。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EC69AC-5E41-42A8-9D61-98CFB9AC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借力分发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D3CD3-F14A-4450-9DC1-72A94713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050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269CC-54CC-4569-AE14-340E4A38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05075"/>
            <a:ext cx="4333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B9617-9C8F-49CE-ABC6-ED3B3905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A63D2D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A63D2D"/>
                </a:solidFill>
                <a:latin typeface="Georgia"/>
                <a:ea typeface="Georgia"/>
                <a:cs typeface="Georgia"/>
              </a:rPr>
              <a:t>35%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5B2CD-4F50-45EF-9A94-21AA7E3F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12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创作者、旅行社区、合作方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DD88C-B1FC-4274-998F-60125A40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高意向搜索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EF2870-9F4F-447E-98F6-68E8E021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146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01690A-4E3B-4C80-9DA8-F2EA55E9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1467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8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46C23B-3FD4-4090-AAEF-F12909C0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67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A63D2D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A63D2D"/>
                </a:solidFill>
                <a:latin typeface="Georgia"/>
                <a:ea typeface="Georgia"/>
                <a:cs typeface="Georgia"/>
              </a:rPr>
              <a:t>20%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DC061-3FD2-410A-BB88-66B47460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861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12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问题型关键词 + 具体落地页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DCEBBA-CC35-4C6B-8979-B0649A6C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社交发现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DCC0FB-5F32-44B3-A835-E275BAE4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242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200CAB-02CE-4FE6-9035-774C8446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24275"/>
            <a:ext cx="1857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AE8DF5-4485-46D4-817A-2063C0C3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76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A63D2D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A63D2D"/>
                </a:solidFill>
                <a:latin typeface="Georgia"/>
                <a:ea typeface="Georgia"/>
                <a:cs typeface="Georgia"/>
              </a:rPr>
              <a:t>15%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080243-C636-43CD-BA5A-49EED870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957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12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TikTok / Reels / Shorts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1A4050-F30A-4607-92EE-09C488B0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付费放大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B3D057-2E1F-4E4E-9E7B-8FDE293A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338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6413D2-621E-4056-9753-C0F33013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33875"/>
            <a:ext cx="1857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0AD521-6BF1-47CD-B7EE-E1CE0FE8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86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A63D2D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A63D2D"/>
                </a:solidFill>
                <a:latin typeface="Georgia"/>
                <a:ea typeface="Georgia"/>
                <a:cs typeface="Georgia"/>
              </a:rPr>
              <a:t>15%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189627-CC3E-4FE6-A42B-9E4A9ED7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053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12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只放大已验证的内容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D7C697-C181-4BA1-902F-7E7336C0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邮件与转介绍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5E7C29-E522-4619-88A5-8A43A373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434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DC2E43-EF0F-4773-85F0-3712593D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43475"/>
            <a:ext cx="1857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B171E0-2B7A-4DA5-9594-4D45CAA3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95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A63D2D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A63D2D"/>
                </a:solidFill>
                <a:latin typeface="Georgia"/>
                <a:ea typeface="Georgia"/>
                <a:cs typeface="Georgia"/>
              </a:rPr>
              <a:t>15%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575542-3380-4DFF-898E-AC8E4C45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149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12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把一次访问变成长期资产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D6BC57-2BD1-4560-8832-F34D750F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53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017AA9-7830-4F40-8477-D5BCDD6A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1017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FBF9F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BF9F4"/>
                </a:solidFill>
                <a:latin typeface="Arial"/>
                <a:ea typeface="Arial"/>
                <a:cs typeface="Arial"/>
              </a:rPr>
              <a:t>优先级原则：先验证“有人愿意提交路线”，再验证“有人愿意付款”，最后才放大曝光。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F1E7CE-5C6B-4B98-9A88-D3D3388A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41FB3C-604F-42D0-BE8D-950F7091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A DEEPER CHINA / GROWTH OPERATING PLAN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A4F7CB-6264-4F3D-9D42-D5890DB7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4364088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0edc523a94146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E4CB29-CF4B-4E82-A45E-F2B3AAFD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6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F1806-FE67-4A84-8318-80BD310F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166C0-98CB-4706-9459-66043F92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E0B06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0B067"/>
                </a:solidFill>
                <a:latin typeface="Arial"/>
                <a:ea typeface="Arial"/>
                <a:cs typeface="Arial"/>
              </a:rPr>
              <a:t>06  /  最快的第一批客户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89A17-DB7D-4EB9-8E5B-522BD575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695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0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最快的第一批客户，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30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来自已经有受众的人。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BEC20-0B2D-4B42-89C5-6ACA9B94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 i="0">
                <a:solidFill>
                  <a:srgbClr val="E7E1D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E7E1D6"/>
                </a:solidFill>
                <a:latin typeface="Arial"/>
                <a:ea typeface="Arial"/>
                <a:cs typeface="Arial"/>
              </a:rPr>
              <a:t>把创作者当作长期分发节点，而不是买一条广告。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B73BE-B3CE-4602-8FC6-FB54C82C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9095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FC3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834FB-F789-4063-9609-EFE2CEEB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14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0B06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0B06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F7646-6DAA-48A1-9FBD-83735342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956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提供一条真实路线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DEC1AD-32C1-4DB3-AE84-4B811B77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814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 i="0">
                <a:solidFill>
                  <a:srgbClr val="D3CBC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D3CBC0"/>
                </a:solidFill>
                <a:latin typeface="Arial"/>
                <a:ea typeface="Arial"/>
                <a:cs typeface="Arial"/>
              </a:rPr>
              <a:t>从创作者受众最常问的问题开始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90F98-1C4D-410B-900F-A4EC4A2C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1960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FC3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42A014-2198-49A1-9228-B465F80B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433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0B06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0B06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658596-A939-4EBE-9807-FCFF8139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924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免费做一次 Keep / Cut / Reorder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5A171F-8E3A-427E-8ADB-3DC4E19F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1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 i="0">
                <a:solidFill>
                  <a:srgbClr val="D3CBC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D3CBC0"/>
                </a:solidFill>
                <a:latin typeface="Arial"/>
                <a:ea typeface="Arial"/>
                <a:cs typeface="Arial"/>
              </a:rPr>
              <a:t>让判断本身成为内容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BFFC23-42FA-487D-8C57-5E8E6EED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4825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FC3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400F6A-BC7D-46E2-9241-383B43C7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72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0B06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0B06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2E5044-950B-4857-852E-20E7FC2A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552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联合发布前后对比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9CE577-78D3-47B1-B5F4-7480982B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838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 i="0">
                <a:solidFill>
                  <a:srgbClr val="D3CBC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D3CBC0"/>
                </a:solidFill>
                <a:latin typeface="Arial"/>
                <a:ea typeface="Arial"/>
                <a:cs typeface="Arial"/>
              </a:rPr>
              <a:t>观众看得见“删掉什么”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B80BFB-578B-4206-81C9-93F2DCFD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67690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FC3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158644-6CF3-491C-A2A8-DC911014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200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0B06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0B06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B1C891-9860-448E-BBE6-85D926E3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816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专属链接 + 20–30%佣金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13C336-24AC-42DC-8973-1FFCCD44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467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 i="0">
                <a:solidFill>
                  <a:srgbClr val="D3CBC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D3CBC0"/>
                </a:solidFill>
                <a:latin typeface="Arial"/>
                <a:ea typeface="Arial"/>
                <a:cs typeface="Arial"/>
              </a:rPr>
              <a:t>让分发变成可追踪收入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24064A-C1D5-4D48-A798-DB5A6CB7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57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0B06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0B067"/>
                </a:solidFill>
                <a:latin typeface="Arial"/>
                <a:ea typeface="Arial"/>
                <a:cs typeface="Arial"/>
              </a:rPr>
              <a:t>30天目标：40人名单 / 30次个性化触达 / 3个联合内容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38BA56-2751-4915-8CFE-E7461188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D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AAEB77-7EE5-48A2-931C-96E75A9A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ED7C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DED7CD"/>
                </a:solidFill>
                <a:latin typeface="Arial"/>
                <a:ea typeface="Arial"/>
                <a:cs typeface="Arial"/>
              </a:rPr>
              <a:t>A DEEPER CHINA / GROWTH OPERATING PLAN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CF9ABA-9FDF-4F7E-BFFD-43F6CC3D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DED7C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ED7C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237798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7E1D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96B85A-1792-4503-8366-CCA5C720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07  /  平台分工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73D11-22FA-4B99-B8C4-D4BA6597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Reddit、短视频、YouTube，分别承担不同任务。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5C629-DC1D-4B57-B490-0431D909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不要让每个平台都说同一套话。让它们各自把用户推进下一步。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E920C-9BE0-42AB-B0C2-D1B2C527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REDDIT / 旅行社区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E5210D-D674-4682-A996-036ED1FA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让真实问题浮出水面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4C3E2-1B66-449C-BB86-908149E0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每周5条高质量回答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115ECA-5F57-4871-9523-124CB0D4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42A4CF-485B-412E-B2F6-6D34CFF7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1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275" b="0" i="1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“我会删掉哪个城市，为什么”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B766B5-EB63-4417-B5CF-E63F7C7F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19350"/>
            <a:ext cx="9525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4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41E5F4-BE08-40F7-9490-6CF7A487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57450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TIKTOK / REELS / SHORTS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BDF2B6-72B6-452F-B2FD-19A2B64C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1465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获取发现和私信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37D28-5A14-4210-976E-7A502ACB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810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每周6条路线拆解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FD2A0A-F439-41D1-A5D3-45ABEED2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43865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85ADDC-FC56-417E-B5F2-2E2541C3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6863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1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275" b="0" i="1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“Three beautiful AI itinerary mistakes”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41EAF2-19ED-4124-A1EA-7C644F72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19350"/>
            <a:ext cx="9525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4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54C448-D6ED-4E11-B0EA-84464A96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57450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YOUTUBE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17BA3F-69F0-4E74-92BC-7E6AB0A4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建立信任和长尾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E78D4F-C888-48DD-A79D-2BBB6BA9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10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每月1条6–12分钟视频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44B594-0BBC-43C4-A56A-C26C0893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3865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E620BC-8EA1-450B-93C1-68200F73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863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1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275" b="0" i="1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“Can you really do four cities in 14 days?”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667F1F-E2D3-4319-8875-038C1AE1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91200"/>
            <a:ext cx="1019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9B6909-38AF-46CC-A6D3-48B8CD58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5787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FBF9F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BF9F4"/>
                </a:solidFill>
                <a:latin typeface="Arial"/>
                <a:ea typeface="Arial"/>
                <a:cs typeface="Arial"/>
              </a:rPr>
              <a:t>统一结尾：Comment your route and I’ll tell you what I would rethink first.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FAC449-E33D-45C1-940C-CB04012D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E5C118-20A9-4921-BFCE-97FB55A4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A DEEPER CHINA / GROWTH OPERATING PLAN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7DB585-604F-4558-AACB-C2C06281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322127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79EA8D-A0C9-4BD8-9B43-607A39FD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08  /  搜索与广告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CBB91-F96E-4742-AD98-1FF2C6F5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搜索和广告，只放大已经被证明有效的判断。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17726-13D3-49BA-938A-11A4960F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先从高意向问题开始，不从“China travel”这种泛词开始。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76B55-7E22-469E-A715-11F554D8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关键词三层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1CF66-3F6E-4DC0-A48C-729C9120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AE156-D9D4-4D8E-87CD-2E373F81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76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China itinerary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01F680-EB14-4D2C-AA47-9E203218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099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最接近付款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827D2-1BEA-44C9-B3DE-6586E41B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B5950-D0A1-493D-AB01-A51B6BDC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814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03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Shanghai Hangzhou Suzhou itinerary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2C4D07-6FF0-4949-83E9-1ECC6A47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147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具体路线组合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FB94B5-4726-40BD-9961-C7E11019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243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15DB0D-44D9-4E3A-B4DD-B016D14D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China travel apps / payment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2C4527-CDF1-4307-A55E-77BC4A1B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196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流量大，建立信任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34A3F3-FCF2-4E6B-B021-C224A7F9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ED50A8-820F-4252-AFB1-783D41B1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003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测试上限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22AD85-2CB8-42F3-91D7-EBE508CA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575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A63D2D"/>
                </a:solidFill>
                <a:latin typeface="Georgia"/>
                <a:ea typeface="Georgia"/>
                <a:cs typeface="Georgia"/>
              </a:defRPr>
            </a:pPr>
            <a:r>
              <a:rPr sz="4350" b="1" i="0">
                <a:solidFill>
                  <a:srgbClr val="A63D2D"/>
                </a:solidFill>
                <a:latin typeface="Georgia"/>
                <a:ea typeface="Georgia"/>
                <a:cs typeface="Georgia"/>
              </a:rPr>
              <a:t>US$300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C64266-9215-4452-969E-F7D85C69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624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7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7BB285-87A6-485B-A666-8C413E53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338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Google Search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BAF472-7744-4BD8-AD55-A172942E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733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125" b="1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$150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F5A787-CA74-461D-89BF-4CCA9C1E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672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7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62161F-F9FB-4EE8-ABC3-09FB1875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386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已验证短视频放大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1AFACA-77D9-4E0E-81D9-949954E0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0386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125" b="1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$60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6B5D47-BCEE-4FFE-8B5D-FC04A40E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720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7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CDCDEA-FE2D-4A58-AB58-2EC51430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434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创作者素材 / 样品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96E787-D7C0-4ADF-8307-C796E747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434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125" b="1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$40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DBA8E9-FB36-4388-9AD5-709299CE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76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7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C1413B-D5B3-4919-BA43-57047AFC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482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邮箱、表单、域名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8AFED6-B3DA-41FA-B552-11352A8D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6482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125" b="1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$30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FEEA00-66D3-4ADF-9884-B6B0854C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816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7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45D0BF-5685-4F1F-BE93-0FB2611E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530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备用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9E809A-7846-4C18-A5AE-F8605016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9530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125" b="1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$20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77CDA3-A54E-40DD-B708-9BF45BED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32EA03-46CE-40DB-8288-8D864E12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A DEEPER CHINA / GROWTH OPERATING PLAN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C1ACF7-C0C0-4773-B5AD-005C4FB9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760993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7E1D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530689-0884-4E6B-AA19-F0ABCA25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09  /  30天验证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412CB-03A3-4AFB-8723-3E7026E9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30天不追求做大账号，只验证3件事。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B37DA-3887-4637-A54D-4C82040A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哪类问题最容易得到回复；哪个平台带来合格路线；是否有人愿意支付US$39。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250D0-DC68-4916-A8B5-9A6B3D8E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4E63C6-954A-4A4B-A733-2E3E41C2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5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15107-D8C1-4500-A671-191F2C1B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D46ACC-C153-4ED9-BE30-6296A7FE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搭建最小系统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F7B28-0AD5-42E0-AB06-72844475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英文承接页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免费表单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3个匿名案例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DD5926-F1DD-46C4-8E7C-D082D831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971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5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86626E-6CAA-413F-8C9E-9B13E4D2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5242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WEEK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A65F97-558C-4509-BDA0-0E2BCD70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8481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回答真实问题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E805AD-2082-4B82-B95F-FA7A2F50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45770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5条社区回答 / 周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6条路线短视频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不急着投广告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808C04-9FCB-4DAB-830F-63D25384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5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1F4ED5-B96A-44CB-998D-D076F43F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242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WEEK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D5D1F8-5F50-41B6-AE1F-59B54062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481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借力创作者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83E373-360B-449C-ADA4-A2D4878D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5770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40人名单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30次个性化触达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1条长视频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2E4093-B739-4A72-A0DA-81546300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971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D5AF92-1112-4636-85E4-1136686A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5242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WEEK 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4A0DAB-C486-4074-BF42-A4FD4F5D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8481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出售并复盘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6CECF3-C1A4-447D-8DD8-3CFE2B68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45770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开放10个名额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记录来源与付款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邀请匿名案例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9CAEE4-F470-45A8-A36E-B3C2C213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A63D2D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63D2D"/>
                </a:solidFill>
                <a:latin typeface="Georgia"/>
                <a:ea typeface="Georgia"/>
                <a:cs typeface="Georgia"/>
              </a:rPr>
              <a:t>20–30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711CAA-F168-4554-AD07-520FC6BD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8578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1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合格路线提交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4B581F-9ACE-4A5C-AE81-1195DC46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10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A63D2D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63D2D"/>
                </a:solidFill>
                <a:latin typeface="Georgia"/>
                <a:ea typeface="Georgia"/>
                <a:cs typeface="Georgia"/>
              </a:rPr>
              <a:t>5–10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6D8480-80E6-427A-873D-69518902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8578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1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US$39付费审查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8BA187-2A7B-400E-82F9-5918246B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810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A63D2D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63D2D"/>
                </a:solidFill>
                <a:latin typeface="Georgia"/>
                <a:ea typeface="Georgia"/>
                <a:cs typeface="Georgia"/>
              </a:rPr>
              <a:t>2+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CB08F8-E1CA-465C-857B-9793ED2D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8578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1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升级路书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29C8BB-47A4-409E-9217-225F2146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810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A63D2D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63D2D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3E7854-8EBF-430B-9581-DE0079CE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8578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1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创作者合作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2C0C81-A513-4BFC-87DD-8EC46C2A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30036C-833E-4D88-8CB8-20020971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A DEEPER CHINA / GROWTH OPERATING PLAN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13615F-B691-4338-A146-239F9232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012880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D3997E-687B-4D61-9D43-3E98A630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63D2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2D"/>
                </a:solidFill>
                <a:latin typeface="Arial"/>
                <a:ea typeface="Arial"/>
                <a:cs typeface="Arial"/>
              </a:rPr>
              <a:t>10  /  数据追踪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80CFD6-4EE2-4476-B8F1-51A074F1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数据只看能不能进账，不看虚荣指标。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F74E9-5739-4BB1-ADCC-C87BBA77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每周复盘一次，把“点赞很多但没人提交路线”的渠道直接降级。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D761B-09E2-43DE-8A13-2DDC864F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1714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9525">
            <a:solidFill>
              <a:srgbClr val="C9C1B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145C0-41A8-4B66-94D6-0F8ED1BB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6DCF2-90A3-4F0C-ABE1-99F78A22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050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有人看到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81F81-CCA9-4102-94BF-DA83C7B4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990850"/>
            <a:ext cx="1600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9525">
            <a:solidFill>
              <a:srgbClr val="C9C1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43340E-66BF-4ED2-8A36-7CB64C12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2897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点击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35A455-64AE-476C-8D33-DB8D7514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004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050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有人愿意了解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00E0D2-1DEA-4E81-ACED-61366C0D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1945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9525">
            <a:solidFill>
              <a:srgbClr val="C9C1B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A6F6BD-2871-44BB-8B13-948C588E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45757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51512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151512"/>
                </a:solidFill>
                <a:latin typeface="Georgia"/>
                <a:ea typeface="Georgia"/>
                <a:cs typeface="Georgia"/>
              </a:rPr>
              <a:t>提交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F12B8-6D01-4D14-B1B6-21A064D7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290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050" b="0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愿意交出自己的路线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CAF36B-A652-4576-92CC-A7108FBC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48050"/>
            <a:ext cx="1371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2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D6CDB3-E600-4422-902B-932CD117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861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US$39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87FE18-F16B-462D-9272-D856DC99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576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050" b="0" i="0">
                <a:solidFill>
                  <a:srgbClr val="E7DED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E7DED4"/>
                </a:solidFill>
                <a:latin typeface="Arial"/>
                <a:ea typeface="Arial"/>
                <a:cs typeface="Arial"/>
              </a:rPr>
              <a:t>愿意为判断付款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103C60-AF0E-4CF5-9184-DD3E9204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76650"/>
            <a:ext cx="1257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9E3FA8-AF3B-44EB-B4F5-08A1A3C5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147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US$99+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121D5B-425B-4AEE-96AE-9CEE0C5A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862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050" b="0" i="0">
                <a:solidFill>
                  <a:srgbClr val="E7DED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E7DED4"/>
                </a:solidFill>
                <a:latin typeface="Arial"/>
                <a:ea typeface="Arial"/>
                <a:cs typeface="Arial"/>
              </a:rPr>
              <a:t>愿意购买更深交付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19F7E8-9D8C-44FA-9D9B-2C275CD5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D1BB17-73B6-44C4-8761-ECB3EB1A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26A56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526A56"/>
                </a:solidFill>
                <a:latin typeface="Georgia"/>
                <a:ea typeface="Georgia"/>
                <a:cs typeface="Georgia"/>
              </a:rPr>
              <a:t>加码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5415D5-232D-4245-B586-DE7C4348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86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合格路线提交率上升；有人主动追问；US$39开始成交。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A36E3D-8EC5-474A-957B-C6A6EB6B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6730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63D2D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A63D2D"/>
                </a:solidFill>
                <a:latin typeface="Georgia"/>
                <a:ea typeface="Georgia"/>
                <a:cs typeface="Georgia"/>
              </a:rPr>
              <a:t>停止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A9D66B-0C1C-4432-A5F7-F96B3E14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086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8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15151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51512"/>
                </a:solidFill>
                <a:latin typeface="Arial"/>
                <a:ea typeface="Arial"/>
                <a:cs typeface="Arial"/>
              </a:rPr>
              <a:t>只有点赞，没有路线；只带来泛流量；交付成本高于收入。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AC3975-03A2-43DF-B85E-93C656A7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A77F45-5E85-450D-8BB8-EF49838F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A DEEPER CHINA / GROWTH OPERATING PLAN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8D6936-6490-460B-B622-3A6607E5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706A6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06A6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741540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201D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07D262-0730-499E-BC38-63415E3B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E0B06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0B067"/>
                </a:solidFill>
                <a:latin typeface="Arial"/>
                <a:ea typeface="Arial"/>
                <a:cs typeface="Arial"/>
              </a:rPr>
              <a:t>11  /  现在就做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1CACD-63B5-4403-A51D-ED0CD231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75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375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现在的决策只有一个：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75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375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先拿到10个付费客户。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996F8B-4D19-4732-A974-D47431CF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 i="0">
                <a:solidFill>
                  <a:srgbClr val="E1D9C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1D9CE"/>
                </a:solidFill>
                <a:latin typeface="Arial"/>
                <a:ea typeface="Arial"/>
                <a:cs typeface="Arial"/>
              </a:rPr>
              <a:t>前7天只做五件事：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CD285-7C12-4CDD-BF4A-3D7BF1F2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0B06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0B06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A6FAD-DCBB-4FA7-87AB-8E84CC96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671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一页英文承接页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F9C3F-EA7D-4E8A-A86A-71D41166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0B06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0B06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858B9-5B6B-497B-91C1-4F695393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671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免费路线提交表单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C3179-B59C-4402-80B3-0661B043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0B06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0B06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F09EC6-E552-49F4-AE1B-E9656977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672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3个匿名前后对比案例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637A57-14B7-46A8-AEB8-4F604528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0B06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0B06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69E64D-3A0B-46B6-A972-14A79D31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672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5条高质量社区回答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7F3629-ED1A-47C2-A8AC-BB64A72C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0B06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0B06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23DBC6-5317-4D35-9352-29CF9983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673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10个创作者个性化触达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CFA231-0C03-4108-8016-C85487D0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76600"/>
            <a:ext cx="33528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BCB161-91A7-403C-ACB0-09F162C7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76650"/>
            <a:ext cx="2724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网站重做、13城长内容、广告放大，</a:t>
            </a:r>
          </a:p>
          <a:p xmlns:a="http://schemas.openxmlformats.org/drawingml/2006/main">
            <a:pPr algn="l">
              <a:defRPr sz="2100" b="1" i="0">
                <a:solidFill>
                  <a:srgbClr val="FBF9F4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FBF9F4"/>
                </a:solidFill>
                <a:latin typeface="Georgia"/>
                <a:ea typeface="Georgia"/>
                <a:cs typeface="Georgia"/>
              </a:rPr>
              <a:t>都等到付费证据之后。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3C3AD5-972E-4FDE-8684-BB496CD4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530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F2DD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DDD1"/>
                </a:solidFill>
                <a:latin typeface="Arial"/>
                <a:ea typeface="Arial"/>
                <a:cs typeface="Arial"/>
              </a:rPr>
              <a:t>先证明“有人愿意为取舍付款”。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103ED3-985A-4EA4-A3F4-46F69B9F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B0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A63F93-CDA6-45A8-B751-2C72B81D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1" i="0">
                <a:solidFill>
                  <a:srgbClr val="CFC6B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CFC6BA"/>
                </a:solidFill>
                <a:latin typeface="Arial"/>
                <a:ea typeface="Arial"/>
                <a:cs typeface="Arial"/>
              </a:rPr>
              <a:t>A Deeper China · Overseas Growth Plan · 2026.08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A722F2-AC0C-4181-9A2C-616B9BE4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D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1B006E-7E2C-469C-9FA8-03563B4D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ED7C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DED7CD"/>
                </a:solidFill>
                <a:latin typeface="Arial"/>
                <a:ea typeface="Arial"/>
                <a:cs typeface="Arial"/>
              </a:rPr>
              <a:t>A DEEPER CHINA / GROWTH OPERATING PLAN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0A52A6-7AD7-449F-A68A-83FE16FC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DED7C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ED7C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665277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2026-08-09T01:35:05.7010000Z</dcterms:created>
  <dcterms:modified xsi:type="dcterms:W3CDTF">2026-08-09T01:35:05.7010000Z</dcterms:modified>
</coreProperties>
</file>